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 projet en 20 secondes : un carrefour, un modèle formel, une analyse calculée et une simulation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problème n'est pas seulement de faire clignoter des feux : il faut prouver qu'aucun état accessible ne viole la sûreté, et rester capable de simuler des files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exigences se répondent : le modèle doit être assez formel pour être analysé, et assez explicite pour être montré.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clé : les propriétés ne sont pas des commentaires, elles se déduisent des matrices Pre/Post.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les deux places de verrou : elles transforment une règle de priorité en contrainte structurelle.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groupe de places correspond à une ressource physique : feu, place dans la file, espace dans le carrefour, capacité, verrou.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familles : le contrôle du carrefour, le flux physique, et les arrivées extérieures. Les arrivées sont les seules transitions non déterministes du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correction conceptuelle majeure : l'ancienne version déduisait Pre de C, ce qui rendait les arcs de lecture impossibles.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sûreté n'est pas une condition IF dans la simulation : elle découle du fait que T1/T4 ne peuvent pas tirer sans P25.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familles d'invariants couvrent les feux, les files, le verrou et la conservation globale.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cycle est volontairement simple : 5 s de vert, 2 s d'orange, 1 s de tout-rouge, puis l'autre axe.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transition est tirée exactement une fois. Le cycle couvre les 6 phases, les 4 entrées, les 4 sorties et les 4 arrivées.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 propriétés, six prouvées, une partielle. La distinction L1/L3 est importante : l'exclusion mutuelle est structurelle, le débit est piloté par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découplage n'est pas cosmétique : il permet de tester l'analyse sans navigateur et de changer l'UI sans toucher au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débit d'arrivée (0,71 véh/s) dépasse le débit servi (0,5 véh/s) : c'est un choix pédagogique pour observer les files se remplir.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Assumer les limites fait partie de la démarche : le modèle prouve la sûreté, il ne prétend pas prédire le trafic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sur la démonstration : ouvrir l'application, montrer le panneau de calcul (onglet Propriétés) puis lancer la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8A33D"/>
                </a:solidFill>
                <a:latin typeface="Segoe UI"/>
              </a:rPr>
              <a:t>PROJET M1 · SIMULATION TEMPS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70432"/>
            <a:ext cx="7498079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5000" b="0" i="0">
                <a:solidFill>
                  <a:srgbClr val="F5F1E8"/>
                </a:solidFill>
                <a:latin typeface="Georgia"/>
              </a:rPr>
              <a:t>Un carrefour
sous contrôle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0779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8A33D"/>
                </a:solidFill>
                <a:latin typeface="Georgia"/>
              </a:rPr>
              <a:t>Réseau de Petri &amp;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67665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EB6BD"/>
                </a:solidFill>
                <a:latin typeface="Segoe UI"/>
              </a:rPr>
              <a:t>Modélisation formelle, analyse automatique et simulation interactive d'un carrefour à quatre directions.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28032"/>
            <a:ext cx="1572768" cy="566928"/>
          </a:xfrm>
          <a:prstGeom prst="roundRect">
            <a:avLst>
              <a:gd name="adj" fmla="val 6000"/>
            </a:avLst>
          </a:prstGeom>
          <a:solidFill>
            <a:srgbClr val="1A2630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90118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E8A33D"/>
                </a:solidFill>
                <a:latin typeface="Georgia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4956048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AEB6BD"/>
                </a:solidFill>
                <a:latin typeface="Segoe UI"/>
              </a:rPr>
              <a:t>places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3744" y="4828032"/>
            <a:ext cx="1572768" cy="566928"/>
          </a:xfrm>
          <a:prstGeom prst="roundRect">
            <a:avLst>
              <a:gd name="adj" fmla="val 6000"/>
            </a:avLst>
          </a:prstGeom>
          <a:solidFill>
            <a:srgbClr val="1A2630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490118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E8A33D"/>
                </a:solidFill>
                <a:latin typeface="Georgia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956048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AEB6BD"/>
                </a:solidFill>
                <a:latin typeface="Segoe UI"/>
              </a:rPr>
              <a:t>transitions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4828032"/>
            <a:ext cx="1572768" cy="566928"/>
          </a:xfrm>
          <a:prstGeom prst="roundRect">
            <a:avLst>
              <a:gd name="adj" fmla="val 6000"/>
            </a:avLst>
          </a:prstGeom>
          <a:solidFill>
            <a:srgbClr val="1A2630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490118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E8A33D"/>
                </a:solidFill>
                <a:latin typeface="Georgia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4956048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AEB6BD"/>
                </a:solidFill>
                <a:latin typeface="Segoe UI"/>
              </a:rPr>
              <a:t>P-invariants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4828032"/>
            <a:ext cx="1572768" cy="566928"/>
          </a:xfrm>
          <a:prstGeom prst="roundRect">
            <a:avLst>
              <a:gd name="adj" fmla="val 6000"/>
            </a:avLst>
          </a:prstGeom>
          <a:solidFill>
            <a:srgbClr val="1A2630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490118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E8A33D"/>
                </a:solidFill>
                <a:latin typeface="Georgia"/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56048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AEB6BD"/>
                </a:solidFill>
                <a:latin typeface="Segoe UI"/>
              </a:rPr>
              <a:t>jetons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EB6BD"/>
                </a:solidFill>
                <a:latin typeface="Consolas"/>
              </a:rPr>
              <a:t>Source unique · lib/petri/model.ts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28232"/>
            <a:ext cx="85039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01 / 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960120"/>
            <a:ext cx="1783080" cy="4572000"/>
          </a:xfrm>
          <a:prstGeom prst="roundRect">
            <a:avLst>
              <a:gd name="adj" fmla="val 35000"/>
            </a:avLst>
          </a:prstGeom>
          <a:solidFill>
            <a:srgbClr val="18242E"/>
          </a:solidFill>
          <a:ln w="12700">
            <a:solidFill>
              <a:srgbClr val="334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1444752"/>
            <a:ext cx="950976" cy="950976"/>
          </a:xfrm>
          <a:prstGeom prst="ellipse">
            <a:avLst/>
          </a:prstGeom>
          <a:solidFill>
            <a:srgbClr val="22303B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03536" y="1572768"/>
            <a:ext cx="694944" cy="694944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0" y="2770632"/>
            <a:ext cx="950976" cy="950976"/>
          </a:xfrm>
          <a:prstGeom prst="ellipse">
            <a:avLst/>
          </a:prstGeom>
          <a:solidFill>
            <a:srgbClr val="22303B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03536" y="2898648"/>
            <a:ext cx="694944" cy="69494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0" y="4096512"/>
            <a:ext cx="950976" cy="950976"/>
          </a:xfrm>
          <a:prstGeom prst="ellipse">
            <a:avLst/>
          </a:prstGeom>
          <a:solidFill>
            <a:srgbClr val="22303B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03536" y="4224528"/>
            <a:ext cx="694944" cy="694944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52303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AEB6BD"/>
                </a:solidFill>
                <a:latin typeface="Segoe UI"/>
              </a:rPr>
              <a:t>NS / 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221991"/>
            <a:ext cx="265176" cy="1636776"/>
          </a:xfrm>
          <a:prstGeom prst="roundRect">
            <a:avLst>
              <a:gd name="adj" fmla="val 50000"/>
            </a:avLst>
          </a:prstGeom>
          <a:solidFill>
            <a:srgbClr val="E7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499359"/>
            <a:ext cx="137160" cy="13716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97180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444240"/>
            <a:ext cx="137160" cy="137160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01 ·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Quatre directions, un seul espace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02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01820"/>
                </a:solidFill>
                <a:latin typeface="Segoe UI"/>
              </a:rPr>
              <a:t>Un carrefour concentre quatre flux concurrents dans une zone où deux axes ne peuvent pas se croiser en même temps.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738628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697480"/>
            <a:ext cx="5376672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Un vert NS et un vert EO simultanés provoquent une collision.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396996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355848"/>
            <a:ext cx="5376672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Le cycle tricolore impose des phases et un temps de dégagement.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55364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014216"/>
            <a:ext cx="5376672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Les files sont bornées : au-delà de 8 véhicules, il n'y a plus de place.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13732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672584"/>
            <a:ext cx="5376672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Le trafic varie : l'attente réelle dépend des arrivées et du débit servi.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737360"/>
            <a:ext cx="4892040" cy="2971800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0116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E8A33D"/>
                </a:solidFill>
                <a:latin typeface="Segoe UI"/>
              </a:rPr>
              <a:t>LA QUESTION DU PROJET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95728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F5F1E8"/>
                </a:solidFill>
                <a:latin typeface="Georgia"/>
              </a:rPr>
              <a:t>Comment garantir l'absence de collision et de blocage, tout en restant capable de simuler un trafic réaliste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06908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Sûreté structurelle + comportement observable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096" y="5760720"/>
            <a:ext cx="146304" cy="146304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7" y="572414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Sûreté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39" y="562356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34056" y="5760720"/>
            <a:ext cx="146304" cy="146304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0087" y="572414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Vivacité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62356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0016" y="5760720"/>
            <a:ext cx="146304" cy="146304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572414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Bornitude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02 ·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Un projet, quatre exigences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03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534924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5" y="1892807"/>
            <a:ext cx="420624" cy="420624"/>
          </a:xfrm>
          <a:prstGeom prst="ellipse">
            <a:avLst/>
          </a:prstGeom>
          <a:solidFill>
            <a:srgbClr val="F6E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933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95681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01820"/>
                </a:solidFill>
                <a:latin typeface="Georgia"/>
              </a:rPr>
              <a:t>Formaliser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377440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Décrire feux, files et circulation comme un réseau de Petri (P, T, Pre, Post, M₀), sans logique cachée dans l'interface.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64208"/>
            <a:ext cx="534924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45936" y="1892807"/>
            <a:ext cx="420624" cy="420624"/>
          </a:xfrm>
          <a:prstGeom prst="ellipse">
            <a:avLst/>
          </a:prstGeom>
          <a:solidFill>
            <a:srgbClr val="F6E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9933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95681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01820"/>
                </a:solidFill>
                <a:latin typeface="Georgia"/>
              </a:rPr>
              <a:t>Vérifier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377440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Calculer les invariants, les bornes, les états accessibles et l'absence de collision par analyse matricielle et BFS.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39312"/>
            <a:ext cx="534924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3815" y="3867911"/>
            <a:ext cx="420624" cy="420624"/>
          </a:xfrm>
          <a:prstGeom prst="ellipse">
            <a:avLst/>
          </a:prstGeom>
          <a:solidFill>
            <a:srgbClr val="F6E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96849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3192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01820"/>
                </a:solidFill>
                <a:latin typeface="Georgia"/>
              </a:rPr>
              <a:t>Simuler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352544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Faire tourner le modèle à 10 Hz avec des arrivées, des traversées et des attentes mesurées, pas simulées par une formule.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39312"/>
            <a:ext cx="534924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3867911"/>
            <a:ext cx="420624" cy="420624"/>
          </a:xfrm>
          <a:prstGeom prst="ellipse">
            <a:avLst/>
          </a:prstGeom>
          <a:solidFill>
            <a:srgbClr val="F6E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396849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393192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01820"/>
                </a:solidFill>
                <a:latin typeface="Georgia"/>
              </a:rPr>
              <a:t>Expliquer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4352544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Rendre chaque définition, chaque tir et chaque preuve visibles dans une démarche de calcul accessible.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96128"/>
            <a:ext cx="10908792" cy="438912"/>
          </a:xfrm>
          <a:prstGeom prst="roundRect">
            <a:avLst>
              <a:gd name="adj" fmla="val 6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Contrainte d'architecture : une seule source de vérité, lue par le moteur, l'analyse et l'interface.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221991"/>
            <a:ext cx="265176" cy="1636776"/>
          </a:xfrm>
          <a:prstGeom prst="roundRect">
            <a:avLst>
              <a:gd name="adj" fmla="val 50000"/>
            </a:avLst>
          </a:prstGeom>
          <a:solidFill>
            <a:srgbClr val="E7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499359"/>
            <a:ext cx="137160" cy="13716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97180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444240"/>
            <a:ext cx="137160" cy="137160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02 · CHOIX DE MODÉLISATION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Pourquoi un réseau de Petri 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04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6766560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4707A"/>
                </a:solidFill>
                <a:latin typeface="Segoe UI"/>
              </a:rPr>
              <a:t>Un automate décrit une séquence ; un RdP décrit des ressources partagées et des contraintes de concurrence.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222199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64707A"/>
                </a:solidFill>
                <a:latin typeface="Segoe UI"/>
              </a:rPr>
              <a:t>APPROCHE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50592"/>
            <a:ext cx="386791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64707A"/>
                </a:solidFill>
                <a:latin typeface="Segoe UI"/>
              </a:rPr>
              <a:t>CE QU'ELLE GARANTIT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5059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64707A"/>
                </a:solidFill>
                <a:latin typeface="Segoe UI"/>
              </a:rPr>
              <a:t>SA LIMITE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2743200"/>
            <a:ext cx="10789920" cy="0"/>
          </a:xfrm>
          <a:prstGeom prst="line">
            <a:avLst/>
          </a:prstGeom>
          <a:ln w="1270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834640"/>
            <a:ext cx="2221991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Automate d'états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834640"/>
            <a:ext cx="3867911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Séquence de phases lisible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40"/>
            <a:ext cx="4370832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Sûreté et capacité noyées dans le code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419856"/>
            <a:ext cx="1078992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493008"/>
            <a:ext cx="2221991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Feux temporisés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493008"/>
            <a:ext cx="3867911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Débit facile à régler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493008"/>
            <a:ext cx="4370832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Propriétés seulement testées, jamais prouvées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078224"/>
            <a:ext cx="1078992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4151376"/>
            <a:ext cx="2221991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Réseau de Petri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151376"/>
            <a:ext cx="3867911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Sûreté et bornes structurelles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51376"/>
            <a:ext cx="4370832" cy="6035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Preuve limitée au modèle, pas au monde réel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059936"/>
            <a:ext cx="10927080" cy="804672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623560"/>
            <a:ext cx="10908792" cy="475488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33288"/>
            <a:ext cx="10469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1E8"/>
                </a:solidFill>
                <a:latin typeface="Segoe UI"/>
              </a:rPr>
              <a:t>Le RdP ne dit pas seulement quand passer au vert : il rend la collision impossible par construction.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8A33D"/>
                </a:solidFill>
                <a:latin typeface="Segoe UI"/>
              </a:rPr>
              <a:t>03 · 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F5F1E8"/>
                </a:solidFill>
                <a:latin typeface="Georgia"/>
              </a:rPr>
              <a:t>Anatomie du réseau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2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05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91056"/>
            <a:ext cx="6720840" cy="658368"/>
          </a:xfrm>
          <a:prstGeom prst="roundRect">
            <a:avLst>
              <a:gd name="adj" fmla="val 4000"/>
            </a:avLst>
          </a:prstGeom>
          <a:solidFill>
            <a:srgbClr val="1D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82496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F1E8"/>
                </a:solidFill>
                <a:latin typeface="Segoe UI"/>
              </a:rPr>
              <a:t>Feux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168249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E8A33D"/>
                </a:solidFill>
                <a:latin typeface="Consolas"/>
              </a:rPr>
              <a:t>P1–P12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8249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4 directions × (rouge, vert, orange)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27632"/>
            <a:ext cx="777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2300" b="0" i="0">
                <a:solidFill>
                  <a:srgbClr val="E8A33D"/>
                </a:solidFill>
                <a:latin typeface="Georg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F1E8"/>
                </a:solidFill>
                <a:latin typeface="Segoe UI"/>
              </a:rP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2432304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E8A33D"/>
                </a:solidFill>
                <a:latin typeface="Consolas"/>
              </a:rPr>
              <a:t>P13–P16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3230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attente par direction, de 0 à 8 véhicules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777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2300" b="0" i="0">
                <a:solidFill>
                  <a:srgbClr val="E8A33D"/>
                </a:solidFill>
                <a:latin typeface="Georgia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90672"/>
            <a:ext cx="6720840" cy="658368"/>
          </a:xfrm>
          <a:prstGeom prst="roundRect">
            <a:avLst>
              <a:gd name="adj" fmla="val 4000"/>
            </a:avLst>
          </a:prstGeom>
          <a:solidFill>
            <a:srgbClr val="1D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8211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F1E8"/>
                </a:solidFill>
                <a:latin typeface="Segoe UI"/>
              </a:rPr>
              <a:t>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318211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E8A33D"/>
                </a:solidFill>
                <a:latin typeface="Consolas"/>
              </a:rPr>
              <a:t>P17–P20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18211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véhicule engagé, visible pendant 0,8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27248"/>
            <a:ext cx="777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2300" b="0" i="0">
                <a:solidFill>
                  <a:srgbClr val="E8A33D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F1E8"/>
                </a:solidFill>
                <a:latin typeface="Segoe UI"/>
              </a:rPr>
              <a:t>Capacités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1" y="39319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E8A33D"/>
                </a:solidFill>
                <a:latin typeface="Consolas"/>
              </a:rPr>
              <a:t>P21–P24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93192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jetons libres : 8 −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877056"/>
            <a:ext cx="777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2300" b="0" i="0">
                <a:solidFill>
                  <a:srgbClr val="E8A33D"/>
                </a:solidFill>
                <a:latin typeface="Georgia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90288"/>
            <a:ext cx="6720840" cy="658368"/>
          </a:xfrm>
          <a:prstGeom prst="roundRect">
            <a:avLst>
              <a:gd name="adj" fmla="val 4000"/>
            </a:avLst>
          </a:prstGeom>
          <a:solidFill>
            <a:srgbClr val="1D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8172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F1E8"/>
                </a:solidFill>
                <a:latin typeface="Segoe UI"/>
              </a:rPr>
              <a:t>Verrou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468172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E8A33D"/>
                </a:solidFill>
                <a:latin typeface="Consolas"/>
              </a:rPr>
              <a:t>P25–P26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68172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exclusion mutuelle NS / 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626864"/>
            <a:ext cx="777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2300" b="0" i="0">
                <a:solidFill>
                  <a:srgbClr val="E8A33D"/>
                </a:solidFill>
                <a:latin typeface="Georgia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1664208"/>
            <a:ext cx="1234440" cy="1298448"/>
          </a:xfrm>
          <a:prstGeom prst="roundRect">
            <a:avLst>
              <a:gd name="adj" fmla="val 6000"/>
            </a:avLst>
          </a:prstGeom>
          <a:solidFill>
            <a:srgbClr val="1D2A35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1810512"/>
            <a:ext cx="8321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E8A33D"/>
                </a:solidFill>
                <a:latin typeface="Georgia"/>
              </a:rPr>
              <a:t>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2523744"/>
            <a:ext cx="8321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AEB6BD"/>
                </a:solidFill>
                <a:latin typeface="Segoe UI"/>
              </a:rPr>
              <a:t>PLACES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62288" y="1664208"/>
            <a:ext cx="1234440" cy="1298448"/>
          </a:xfrm>
          <a:prstGeom prst="roundRect">
            <a:avLst>
              <a:gd name="adj" fmla="val 6000"/>
            </a:avLst>
          </a:prstGeom>
          <a:solidFill>
            <a:srgbClr val="1D2A35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1810512"/>
            <a:ext cx="8321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E8A33D"/>
                </a:solidFill>
                <a:latin typeface="Georgia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2523744"/>
            <a:ext cx="8321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AEB6BD"/>
                </a:solidFill>
                <a:latin typeface="Segoe UI"/>
              </a:rPr>
              <a:t>TRANSITIONS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06456" y="1664208"/>
            <a:ext cx="1051560" cy="1298448"/>
          </a:xfrm>
          <a:prstGeom prst="roundRect">
            <a:avLst>
              <a:gd name="adj" fmla="val 6000"/>
            </a:avLst>
          </a:prstGeom>
          <a:solidFill>
            <a:srgbClr val="1D2A35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07624" y="1810512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E8A33D"/>
                </a:solidFill>
                <a:latin typeface="Georgia"/>
              </a:rPr>
              <a:t>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07624" y="2523744"/>
            <a:ext cx="64922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AEB6BD"/>
                </a:solidFill>
                <a:latin typeface="Segoe UI"/>
              </a:rPr>
              <a:t>JETONS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3246120"/>
            <a:ext cx="3739896" cy="196596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341985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E8A33D"/>
                </a:solidFill>
                <a:latin typeface="Segoe UI"/>
              </a:rPr>
              <a:t>MARQUAGE INITIAL M₀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730752"/>
            <a:ext cx="329184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150" b="0" i="0">
                <a:solidFill>
                  <a:srgbClr val="F5F1E8"/>
                </a:solidFill>
                <a:latin typeface="Segoe UI"/>
              </a:rPr>
              <a:t>4 feux rouges
3 véhicules par file
capacités à 5
verrou libre (P25 = 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Les 26 places ne sont pas décoratives : P21–P26 portent les contraintes de capacité et d'exclusion mutuelle.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221991"/>
            <a:ext cx="265176" cy="1636776"/>
          </a:xfrm>
          <a:prstGeom prst="roundRect">
            <a:avLst>
              <a:gd name="adj" fmla="val 50000"/>
            </a:avLst>
          </a:prstGeom>
          <a:solidFill>
            <a:srgbClr val="E7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499359"/>
            <a:ext cx="137160" cy="13716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97180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444240"/>
            <a:ext cx="137160" cy="137160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03 · MODÈLE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Les places ont un rôle précis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06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64707A"/>
                </a:solidFill>
                <a:latin typeface="Segoe UI"/>
              </a:rPr>
              <a:t>GROUPE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755648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64707A"/>
                </a:solidFill>
                <a:latin typeface="Segoe UI"/>
              </a:rPr>
              <a:t>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755648"/>
            <a:ext cx="47365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64707A"/>
                </a:solidFill>
                <a:latin typeface="Segoe UI"/>
              </a:rPr>
              <a:t>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755648"/>
            <a:ext cx="222199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64707A"/>
                </a:solidFill>
                <a:latin typeface="Segoe UI"/>
              </a:rPr>
              <a:t>INVARIANT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2048255"/>
            <a:ext cx="10835639" cy="0"/>
          </a:xfrm>
          <a:prstGeom prst="line">
            <a:avLst/>
          </a:prstGeom>
          <a:ln w="1270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139696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Consolas"/>
              </a:rPr>
              <a:t>Feux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39696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P1–P12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39696"/>
            <a:ext cx="473659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4 × (rouge, vert, orange)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39696"/>
            <a:ext cx="2221991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R + V + O =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2679191"/>
            <a:ext cx="10835639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2752344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Consolas"/>
              </a:rPr>
              <a:t>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752344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P13–P16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752344"/>
            <a:ext cx="473659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Attente par direction, 0 à 8 véhicules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752344"/>
            <a:ext cx="2221991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file ≤ 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3291839"/>
            <a:ext cx="10835639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364991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Consolas"/>
              </a:rPr>
              <a:t>Circulation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364991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P17–P20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364991"/>
            <a:ext cx="473659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Véhicule dans le carrefour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364991"/>
            <a:ext cx="2221991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circ ≤ 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904487"/>
            <a:ext cx="10835639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3977639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Consolas"/>
              </a:rPr>
              <a:t>Capacités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977639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P21–P24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977639"/>
            <a:ext cx="473659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Jetons libres = 8 −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977639"/>
            <a:ext cx="2221991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cap ≤ 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4517136"/>
            <a:ext cx="10835639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4590288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Consolas"/>
              </a:rPr>
              <a:t>Verrou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590288"/>
            <a:ext cx="171907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P25–P26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590288"/>
            <a:ext cx="4736592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Libre / pris par l'axe vert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590288"/>
            <a:ext cx="2221991" cy="557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01820"/>
                </a:solidFill>
                <a:latin typeface="Segoe UI"/>
              </a:rPr>
              <a:t>P25 + P26 =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230368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5230368"/>
            <a:ext cx="73152" cy="749808"/>
          </a:xfrm>
          <a:prstGeom prst="roundRect">
            <a:avLst>
              <a:gd name="adj" fmla="val 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376672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01820"/>
                </a:solidFill>
                <a:latin typeface="Segoe UI"/>
              </a:rPr>
              <a:t>P21–P26 sont la partie structurelle du modèle : elles bornent les files et interdisent deux verts incompatibles sans aucune condition dans le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03 · 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Trois familles de transitions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07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3493008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3493008" cy="109728"/>
          </a:xfrm>
          <a:prstGeom prst="roundRect">
            <a:avLst>
              <a:gd name="adj" fmla="val 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01820"/>
                </a:solidFill>
                <a:latin typeface="Georgia"/>
              </a:rPr>
              <a:t>T1–T6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5915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8A5A11"/>
                </a:solidFill>
                <a:latin typeface="Segoe UI"/>
              </a:rPr>
              <a:t>6 TRANSITIONS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1820"/>
                </a:solidFill>
                <a:latin typeface="Segoe UI"/>
              </a:rPr>
              <a:t>Feux</a:t>
            </a:r>
          </a:p>
        </p:txBody>
      </p:sp>
      <p:sp>
        <p:nvSpPr>
          <p:cNvPr id="12" name="Oval 11"/>
          <p:cNvSpPr/>
          <p:nvPr/>
        </p:nvSpPr>
        <p:spPr>
          <a:xfrm>
            <a:off x="896111" y="3168396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27248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FONT le cycle NS puis EO.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1" y="3918204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77056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Consomment et produisent les places R/V/O.</a:t>
            </a:r>
          </a:p>
        </p:txBody>
      </p:sp>
      <p:sp>
        <p:nvSpPr>
          <p:cNvPr id="16" name="Oval 15"/>
          <p:cNvSpPr/>
          <p:nvPr/>
        </p:nvSpPr>
        <p:spPr>
          <a:xfrm>
            <a:off x="896111" y="4668012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26864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T1 et T4 prennent le verrou P25 ; T3 et T6 le rendent.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664208"/>
            <a:ext cx="3493008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664208"/>
            <a:ext cx="3493008" cy="109728"/>
          </a:xfrm>
          <a:prstGeom prst="roundRect">
            <a:avLst>
              <a:gd name="adj" fmla="val 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93852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01820"/>
                </a:solidFill>
                <a:latin typeface="Georgia"/>
              </a:rPr>
              <a:t>T7–T14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35915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2F7D5B"/>
                </a:solidFill>
                <a:latin typeface="Segoe UI"/>
              </a:rPr>
              <a:t>8 TRANSITIONS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1820"/>
                </a:solidFill>
                <a:latin typeface="Segoe UI"/>
              </a:rPr>
              <a:t>Flux véhicules</a:t>
            </a:r>
          </a:p>
        </p:txBody>
      </p:sp>
      <p:sp>
        <p:nvSpPr>
          <p:cNvPr id="23" name="Oval 22"/>
          <p:cNvSpPr/>
          <p:nvPr/>
        </p:nvSpPr>
        <p:spPr>
          <a:xfrm>
            <a:off x="4599432" y="3168396"/>
            <a:ext cx="82296" cy="82296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127248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4 entrées : file + feu vert → circulation.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4599432" y="3918204"/>
            <a:ext cx="82296" cy="82296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877056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4 sorties : circulation → capacité rendue.</a:t>
            </a:r>
          </a:p>
        </p:txBody>
      </p:sp>
      <p:sp>
        <p:nvSpPr>
          <p:cNvPr id="27" name="Oval 26"/>
          <p:cNvSpPr/>
          <p:nvPr/>
        </p:nvSpPr>
        <p:spPr>
          <a:xfrm>
            <a:off x="4599432" y="4668012"/>
            <a:ext cx="82296" cy="82296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626864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Le feu vert est lu, jamais consommé.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664208"/>
            <a:ext cx="3493008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1664208"/>
            <a:ext cx="3493008" cy="109728"/>
          </a:xfrm>
          <a:prstGeom prst="roundRect">
            <a:avLst>
              <a:gd name="adj" fmla="val 0"/>
            </a:avLst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193852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01820"/>
                </a:solidFill>
                <a:latin typeface="Georgia"/>
              </a:rPr>
              <a:t>T15–T18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35915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315C72"/>
                </a:solidFill>
                <a:latin typeface="Segoe UI"/>
              </a:rPr>
              <a:t>4 TRANSITIONS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1820"/>
                </a:solidFill>
                <a:latin typeface="Segoe UI"/>
              </a:rPr>
              <a:t>Arrivées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2" y="3168396"/>
            <a:ext cx="82296" cy="82296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3127248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Une transition par direction.</a:t>
            </a:r>
          </a:p>
        </p:txBody>
      </p:sp>
      <p:sp>
        <p:nvSpPr>
          <p:cNvPr id="36" name="Oval 35"/>
          <p:cNvSpPr/>
          <p:nvPr/>
        </p:nvSpPr>
        <p:spPr>
          <a:xfrm>
            <a:off x="8302752" y="3918204"/>
            <a:ext cx="82296" cy="82296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877056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Consomment une capacité, produisent un véhicule en file.</a:t>
            </a:r>
          </a:p>
        </p:txBody>
      </p:sp>
      <p:sp>
        <p:nvSpPr>
          <p:cNvPr id="38" name="Oval 37"/>
          <p:cNvSpPr/>
          <p:nvPr/>
        </p:nvSpPr>
        <p:spPr>
          <a:xfrm>
            <a:off x="8302752" y="4668012"/>
            <a:ext cx="82296" cy="82296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4626864"/>
            <a:ext cx="2743200" cy="7132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Segoe UI"/>
              </a:rPr>
              <a:t>Elles rendent le modèle non déterministe.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715000"/>
            <a:ext cx="10908792" cy="420624"/>
          </a:xfrm>
          <a:prstGeom prst="roundRect">
            <a:avLst>
              <a:gd name="adj" fmla="val 6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06440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01820"/>
                </a:solidFill>
                <a:latin typeface="Consolas"/>
              </a:rPr>
              <a:t>Exemple : T7 = P13 + P2 (lu) → P17 + P2 (lu)   ·   la condition feu vert ne retire pas le jeton P2.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8A33D"/>
                </a:solidFill>
                <a:latin typeface="Segoe UI"/>
              </a:rPr>
              <a:t>04 · SÉMANTIQUE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F5F1E8"/>
                </a:solidFill>
                <a:latin typeface="Georgia"/>
              </a:rPr>
              <a:t>Pre/Post : le diable dans les arcs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2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08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074920" cy="361188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E8A33D"/>
                </a:solidFill>
                <a:latin typeface="Segoe UI"/>
              </a:rPr>
              <a:t>RÈGLE DE FRANCHISSEMENT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 b="0" i="0">
                <a:solidFill>
                  <a:srgbClr val="AEB6BD"/>
                </a:solidFill>
                <a:latin typeface="Segoe UI"/>
              </a:rPr>
              <a:t>Franchissable si  </a:t>
            </a:r>
            <a:r>
              <a:rPr sz="1500" b="1" i="0">
                <a:solidFill>
                  <a:srgbClr val="F5F1E8"/>
                </a:solidFill>
                <a:latin typeface="Consolas"/>
              </a:rPr>
              <a:t>M(p) ≥ Pre(p,T)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 b="0" i="0">
                <a:solidFill>
                  <a:srgbClr val="AEB6BD"/>
                </a:solidFill>
                <a:latin typeface="Segoe UI"/>
              </a:rPr>
              <a:t>Après le tir  </a:t>
            </a:r>
            <a:r>
              <a:rPr sz="1500" b="1" i="0">
                <a:solidFill>
                  <a:srgbClr val="F5F1E8"/>
                </a:solidFill>
                <a:latin typeface="Consolas"/>
              </a:rPr>
              <a:t>M'(p) = M(p) − Pre + Post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 i="0">
                <a:solidFill>
                  <a:srgbClr val="AEB6BD"/>
                </a:solidFill>
                <a:latin typeface="Segoe UI"/>
              </a:rPr>
              <a:t>Incidence  </a:t>
            </a:r>
            <a:r>
              <a:rPr sz="1500" b="1" i="0">
                <a:solidFill>
                  <a:srgbClr val="E8A33D"/>
                </a:solidFill>
                <a:latin typeface="Consolas"/>
              </a:rPr>
              <a:t>C = Post − Pre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Le moteur reçoit Pre et Post séparément.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E8A33D"/>
                </a:solidFill>
                <a:latin typeface="Segoe UI"/>
              </a:rPr>
              <a:t>EXEMPLE T7 · ENTRÉE NORD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84831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5F1E8"/>
                </a:solidFill>
                <a:latin typeface="Consolas"/>
              </a:rPr>
              <a:t>P13 + P2  →  P17 + P2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97480"/>
            <a:ext cx="1051560" cy="512064"/>
          </a:xfrm>
          <a:prstGeom prst="roundRect">
            <a:avLst>
              <a:gd name="adj" fmla="val 30000"/>
            </a:avLst>
          </a:prstGeom>
          <a:solidFill>
            <a:srgbClr val="22303B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F5F1E8"/>
                </a:solidFill>
                <a:latin typeface="Consolas"/>
              </a:rPr>
              <a:t>P13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83464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EB6BD"/>
                </a:solidFill>
                <a:latin typeface="Segoe U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2697480"/>
            <a:ext cx="1005840" cy="512064"/>
          </a:xfrm>
          <a:prstGeom prst="roundRect">
            <a:avLst>
              <a:gd name="adj" fmla="val 30000"/>
            </a:avLst>
          </a:prstGeom>
          <a:solidFill>
            <a:srgbClr val="18242E"/>
          </a:solidFill>
          <a:ln w="9525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E8A33D"/>
                </a:solidFill>
                <a:latin typeface="Consolas"/>
              </a:rP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2798064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E8A33D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408" y="2697480"/>
            <a:ext cx="1051560" cy="512064"/>
          </a:xfrm>
          <a:prstGeom prst="roundRect">
            <a:avLst>
              <a:gd name="adj" fmla="val 30000"/>
            </a:avLst>
          </a:prstGeom>
          <a:solidFill>
            <a:srgbClr val="22303B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F5F1E8"/>
                </a:solidFill>
                <a:latin typeface="Consolas"/>
              </a:rPr>
              <a:t>P17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6688" y="283464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EB6BD"/>
                </a:solidFill>
                <a:latin typeface="Segoe UI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697480"/>
            <a:ext cx="914400" cy="512064"/>
          </a:xfrm>
          <a:prstGeom prst="roundRect">
            <a:avLst>
              <a:gd name="adj" fmla="val 30000"/>
            </a:avLst>
          </a:prstGeom>
          <a:solidFill>
            <a:srgbClr val="18242E"/>
          </a:solidFill>
          <a:ln w="9525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E8A33D"/>
                </a:solidFill>
                <a:latin typeface="Consolas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01568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EB6BD"/>
                </a:solidFill>
                <a:latin typeface="Segoe UI"/>
              </a:rPr>
              <a:t>P2 est à la fois dans Pre et dans Post : c'est un self-loop. La condition « feu vert » est testée, mais aucun jeton n'est consommé.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16052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1E2B36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2511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F5F1E8"/>
                </a:solidFill>
                <a:latin typeface="Segoe UI"/>
              </a:rPr>
              <a:t>Dans C, la case (P2, T7) vaut 0.
Impossible de reconstruire Pre et Post depuis C seule.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C'est pour cette raison que le moteur reçoit deux matrices, et pas seulement la matrice d'incidence.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221991"/>
            <a:ext cx="265176" cy="1636776"/>
          </a:xfrm>
          <a:prstGeom prst="roundRect">
            <a:avLst>
              <a:gd name="adj" fmla="val 50000"/>
            </a:avLst>
          </a:prstGeom>
          <a:solidFill>
            <a:srgbClr val="E7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499359"/>
            <a:ext cx="137160" cy="13716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97180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444240"/>
            <a:ext cx="137160" cy="137160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04 · SÉMANTIQUE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Un seul axe vert à la fois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09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4707A"/>
                </a:solidFill>
                <a:latin typeface="Segoe UI"/>
              </a:rPr>
              <a:t>Le verrou P25/P26 transforme une règle de priorité en contrainte de marquage : un axe doit rendre le verrou avant que l'autre ne le prenne.</a:t>
            </a:r>
          </a:p>
        </p:txBody>
      </p:sp>
      <p:sp>
        <p:nvSpPr>
          <p:cNvPr id="12" name="Oval 11"/>
          <p:cNvSpPr/>
          <p:nvPr/>
        </p:nvSpPr>
        <p:spPr>
          <a:xfrm>
            <a:off x="1965960" y="274320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57984" y="314553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101820"/>
                </a:solidFill>
                <a:latin typeface="Consolas"/>
              </a:rPr>
              <a:t>P25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913632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verrou libre</a:t>
            </a:r>
          </a:p>
        </p:txBody>
      </p:sp>
      <p:sp>
        <p:nvSpPr>
          <p:cNvPr id="15" name="Oval 14"/>
          <p:cNvSpPr/>
          <p:nvPr/>
        </p:nvSpPr>
        <p:spPr>
          <a:xfrm>
            <a:off x="5623560" y="274320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5584" y="314553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101820"/>
                </a:solidFill>
                <a:latin typeface="Consolas"/>
              </a:rPr>
              <a:t>P26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3913632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verrou pris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82112" y="2999232"/>
            <a:ext cx="1874519" cy="182880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76148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8A5A11"/>
                </a:solidFill>
                <a:latin typeface="Segoe UI"/>
              </a:rPr>
              <a:t>T1 / T4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547872" y="3364992"/>
            <a:ext cx="1874519" cy="182880"/>
          </a:xfrm>
          <a:prstGeom prst="leftArrow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56616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315C72"/>
                </a:solidFill>
                <a:latin typeface="Segoe UI"/>
              </a:rPr>
              <a:t>T3 / T6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8A5A11"/>
                </a:solidFill>
                <a:latin typeface="Segoe UI"/>
              </a:rPr>
              <a:t>Ce que cela impose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14316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773168"/>
            <a:ext cx="66568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01820"/>
                </a:solidFill>
                <a:latin typeface="Segoe UI"/>
              </a:rPr>
              <a:t>T1 et T4 exigent les 4 feux rouges + P25 (verrou libre).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216652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175504"/>
            <a:ext cx="66568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01820"/>
                </a:solidFill>
                <a:latin typeface="Segoe UI"/>
              </a:rPr>
              <a:t>T3 et T6 exigent P26 : seul l'axe engagé peut terminer son cycle.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618988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5577840"/>
            <a:ext cx="66568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01820"/>
                </a:solidFill>
                <a:latin typeface="Segoe UI"/>
              </a:rPr>
              <a:t>Le retour au vert de l'autre axe attend le retour de P25.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1783080"/>
            <a:ext cx="16916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1929384"/>
            <a:ext cx="12893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315C72"/>
                </a:solidFill>
                <a:latin typeface="Georg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852927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64707A"/>
                </a:solidFill>
                <a:latin typeface="Segoe UI"/>
              </a:rPr>
              <a:t>ÉTATS DE FEUX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1783080"/>
            <a:ext cx="16916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8" y="1929384"/>
            <a:ext cx="12893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2F7D5B"/>
                </a:solidFill>
                <a:latin typeface="Georgia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2852927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64707A"/>
                </a:solidFill>
                <a:latin typeface="Segoe UI"/>
              </a:rPr>
              <a:t>VERT SIMULTANÉ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5204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368503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8A5A11"/>
                </a:solidFill>
                <a:latin typeface="Segoe UI"/>
              </a:rPr>
              <a:t>PREUVE PAR BFS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005072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01820"/>
                </a:solidFill>
                <a:latin typeface="Segoe UI"/>
              </a:rPr>
              <a:t>Le sous-réseau des feux n'a que 5 états accessibles. Aucun ne contient un vert NS et un vert EO en même temps.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09320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2F7D5B"/>
                </a:solidFill>
                <a:latin typeface="Consolas"/>
              </a:rPr>
              <a:t>P25 + P26 = 1 (P-invariant)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05 ·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Dix invariants, aucune boîte noire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07A"/>
                </a:solidFill>
                <a:latin typeface="Segoe UI"/>
              </a:rPr>
              <a:t>Chaque invariant est vérifié par le produit matriciel C · y = 0 sur les 18 transitions, puis contrôlé sur M₀.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05456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B8791F"/>
                </a:solidFill>
                <a:latin typeface="Georg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6334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4707A"/>
                </a:solidFill>
                <a:latin typeface="Segoe UI"/>
              </a:rPr>
              <a:t>INVARIANTS DE FEUX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090672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01820"/>
                </a:solidFill>
                <a:latin typeface="Consolas"/>
              </a:rPr>
              <a:t>R + V + O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5204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07A"/>
                </a:solidFill>
                <a:latin typeface="Segoe UI"/>
              </a:rPr>
              <a:t>Un seul feu actif par direction.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1" y="233172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505456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F7D5B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79" y="26334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4707A"/>
                </a:solidFill>
                <a:latin typeface="Segoe UI"/>
              </a:rPr>
              <a:t>INVARIANTS DE VOIE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090672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01820"/>
                </a:solidFill>
                <a:latin typeface="Consolas"/>
              </a:rPr>
              <a:t>file + circ. + cap. 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5204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07A"/>
                </a:solidFill>
                <a:latin typeface="Segoe UI"/>
              </a:rPr>
              <a:t>Le trafic ne disparaît pas.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33172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05456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315C72"/>
                </a:solidFill>
                <a:latin typeface="Georgia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334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4707A"/>
                </a:solidFill>
                <a:latin typeface="Segoe UI"/>
              </a:rPr>
              <a:t>VERROU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90672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01820"/>
                </a:solidFill>
                <a:latin typeface="Consolas"/>
              </a:rPr>
              <a:t>P25 + P26 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204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07A"/>
                </a:solidFill>
                <a:latin typeface="Segoe UI"/>
              </a:rPr>
              <a:t>Exclusion mutuelle NS / EO.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233172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2505456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C44536"/>
                </a:solidFill>
                <a:latin typeface="Georgia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26334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4707A"/>
                </a:solidFill>
                <a:latin typeface="Segoe UI"/>
              </a:rPr>
              <a:t>CONSERVATION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090672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01820"/>
                </a:solidFill>
                <a:latin typeface="Consolas"/>
              </a:rPr>
              <a:t>Σ M(p) = 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5204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07A"/>
                </a:solidFill>
                <a:latin typeface="Segoe UI"/>
              </a:rPr>
              <a:t>Aucun jeton créé ni perdu.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10912"/>
            <a:ext cx="10908792" cy="841248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5721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E8A33D"/>
                </a:solidFill>
                <a:latin typeface="Segoe UI"/>
              </a:rPr>
              <a:t>VÉRIFICATION AUTOMATIQUE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3153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5F1E8"/>
                </a:solidFill>
                <a:latin typeface="Segoe UI"/>
              </a:rPr>
              <a:t>10 / 10 invariants validés à l'import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546811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300" b="0" i="0">
                <a:solidFill>
                  <a:srgbClr val="F5F1E8"/>
                </a:solidFill>
                <a:latin typeface="Consolas"/>
              </a:rPr>
              <a:t>C · y = 0   pour tout y dans {0,1}²⁶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1675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4707A"/>
                </a:solidFill>
                <a:latin typeface="Segoe UI"/>
              </a:rPr>
              <a:t>Aucune propriété n'est écrite en dur dans l'interface : tout est recalculé depuis les matrices.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8A33D"/>
                </a:solidFill>
                <a:latin typeface="Segoe UI"/>
              </a:rPr>
              <a:t>05 ·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F5F1E8"/>
                </a:solidFill>
                <a:latin typeface="Georgia"/>
              </a:rPr>
              <a:t>Le cycle des feux, en 16 secondes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2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11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673352" cy="214884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673352" cy="91440"/>
          </a:xfrm>
          <a:prstGeom prst="roundRect">
            <a:avLst>
              <a:gd name="adj" fmla="val 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AEB6BD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2311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5F1E8"/>
                </a:solidFill>
                <a:latin typeface="Georgia"/>
              </a:rPr>
              <a:t>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788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EB6BD"/>
                </a:solidFill>
                <a:latin typeface="Segoe UI"/>
              </a:rPr>
              <a:t>NS Vert
EO Rouge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3456432"/>
            <a:ext cx="566928" cy="256032"/>
          </a:xfrm>
          <a:prstGeom prst="roundRect">
            <a:avLst>
              <a:gd name="adj" fmla="val 30000"/>
            </a:avLst>
          </a:prstGeom>
          <a:solidFill>
            <a:srgbClr val="24313C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 i="0">
                <a:solidFill>
                  <a:srgbClr val="7FC8A9"/>
                </a:solidFill>
                <a:latin typeface="Consolas"/>
              </a:rPr>
              <a:t>T2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1" y="1783080"/>
            <a:ext cx="1673352" cy="214884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0591" y="1783080"/>
            <a:ext cx="1673352" cy="91440"/>
          </a:xfrm>
          <a:prstGeom prst="roundRect">
            <a:avLst>
              <a:gd name="adj" fmla="val 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5184" y="19751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AEB6BD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22311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5F1E8"/>
                </a:solidFill>
                <a:latin typeface="Georgia"/>
              </a:rPr>
              <a:t>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788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EB6BD"/>
                </a:solidFill>
                <a:latin typeface="Segoe UI"/>
              </a:rPr>
              <a:t>NS Orange
EO Rouge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15184" y="3456432"/>
            <a:ext cx="566928" cy="256032"/>
          </a:xfrm>
          <a:prstGeom prst="roundRect">
            <a:avLst>
              <a:gd name="adj" fmla="val 30000"/>
            </a:avLst>
          </a:prstGeom>
          <a:solidFill>
            <a:srgbClr val="24313C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 i="0">
                <a:solidFill>
                  <a:srgbClr val="E8A33D"/>
                </a:solidFill>
                <a:latin typeface="Consolas"/>
              </a:rPr>
              <a:t>T3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1783080"/>
            <a:ext cx="1673352" cy="214884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61104" y="1783080"/>
            <a:ext cx="1673352" cy="91440"/>
          </a:xfrm>
          <a:prstGeom prst="roundRect">
            <a:avLst>
              <a:gd name="adj" fmla="val 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9751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AEB6BD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2311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5F1E8"/>
                </a:solidFill>
                <a:latin typeface="Georgia"/>
              </a:rPr>
              <a:t>1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2788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EB6BD"/>
                </a:solidFill>
                <a:latin typeface="Segoe UI"/>
              </a:rPr>
              <a:t>Tout
rouge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456432"/>
            <a:ext cx="566928" cy="256032"/>
          </a:xfrm>
          <a:prstGeom prst="roundRect">
            <a:avLst>
              <a:gd name="adj" fmla="val 30000"/>
            </a:avLst>
          </a:prstGeom>
          <a:solidFill>
            <a:srgbClr val="24313C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 i="0">
                <a:solidFill>
                  <a:srgbClr val="F0978C"/>
                </a:solidFill>
                <a:latin typeface="Consolas"/>
              </a:rPr>
              <a:t>T4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1616" y="1783080"/>
            <a:ext cx="1673352" cy="214884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71616" y="1783080"/>
            <a:ext cx="1673352" cy="91440"/>
          </a:xfrm>
          <a:prstGeom prst="roundRect">
            <a:avLst>
              <a:gd name="adj" fmla="val 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19751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AEB6BD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2311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5F1E8"/>
                </a:solidFill>
                <a:latin typeface="Georgia"/>
              </a:rPr>
              <a:t>5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788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EB6BD"/>
                </a:solidFill>
                <a:latin typeface="Segoe UI"/>
              </a:rPr>
              <a:t>NS Rouge
EO Vert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456432"/>
            <a:ext cx="566928" cy="256032"/>
          </a:xfrm>
          <a:prstGeom prst="roundRect">
            <a:avLst>
              <a:gd name="adj" fmla="val 30000"/>
            </a:avLst>
          </a:prstGeom>
          <a:solidFill>
            <a:srgbClr val="24313C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 i="0">
                <a:solidFill>
                  <a:srgbClr val="7FC8A9"/>
                </a:solidFill>
                <a:latin typeface="Consolas"/>
              </a:rPr>
              <a:t>T5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2128" y="1783080"/>
            <a:ext cx="1673352" cy="214884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82128" y="1783080"/>
            <a:ext cx="1673352" cy="91440"/>
          </a:xfrm>
          <a:prstGeom prst="roundRect">
            <a:avLst>
              <a:gd name="adj" fmla="val 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9751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AEB6BD"/>
                </a:solidFill>
                <a:latin typeface="Segoe U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2311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5F1E8"/>
                </a:solidFill>
                <a:latin typeface="Georgia"/>
              </a:rPr>
              <a:t>2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88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EB6BD"/>
                </a:solidFill>
                <a:latin typeface="Segoe UI"/>
              </a:rPr>
              <a:t>NS Rouge
EO Orange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456432"/>
            <a:ext cx="566928" cy="256032"/>
          </a:xfrm>
          <a:prstGeom prst="roundRect">
            <a:avLst>
              <a:gd name="adj" fmla="val 30000"/>
            </a:avLst>
          </a:prstGeom>
          <a:solidFill>
            <a:srgbClr val="24313C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 i="0">
                <a:solidFill>
                  <a:srgbClr val="E8A33D"/>
                </a:solidFill>
                <a:latin typeface="Consolas"/>
              </a:rPr>
              <a:t>T6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1783080"/>
            <a:ext cx="1673352" cy="214884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92640" y="1783080"/>
            <a:ext cx="1673352" cy="91440"/>
          </a:xfrm>
          <a:prstGeom prst="roundRect">
            <a:avLst>
              <a:gd name="adj" fmla="val 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57232" y="19751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AEB6BD"/>
                </a:solidFill>
                <a:latin typeface="Segoe U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22311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5F1E8"/>
                </a:solidFill>
                <a:latin typeface="Georgia"/>
              </a:rPr>
              <a:t>1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2788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EB6BD"/>
                </a:solidFill>
                <a:latin typeface="Segoe UI"/>
              </a:rPr>
              <a:t>Tout
rouge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57232" y="3456432"/>
            <a:ext cx="566928" cy="256032"/>
          </a:xfrm>
          <a:prstGeom prst="roundRect">
            <a:avLst>
              <a:gd name="adj" fmla="val 30000"/>
            </a:avLst>
          </a:prstGeom>
          <a:solidFill>
            <a:srgbClr val="24313C"/>
          </a:solidFill>
          <a:ln w="9525">
            <a:solidFill>
              <a:srgbClr val="3A4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 i="0">
                <a:solidFill>
                  <a:srgbClr val="F0978C"/>
                </a:solidFill>
                <a:latin typeface="Consolas"/>
              </a:rPr>
              <a:t>T1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05840" y="4434840"/>
            <a:ext cx="10149840" cy="0"/>
          </a:xfrm>
          <a:prstGeom prst="line">
            <a:avLst/>
          </a:prstGeom>
          <a:ln w="15240">
            <a:solidFill>
              <a:srgbClr val="3A4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ight Arrow 43"/>
          <p:cNvSpPr/>
          <p:nvPr/>
        </p:nvSpPr>
        <p:spPr>
          <a:xfrm>
            <a:off x="11018520" y="4352544"/>
            <a:ext cx="201168" cy="16459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133087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8A33D"/>
                </a:solidFill>
                <a:latin typeface="Consolas"/>
              </a:rPr>
              <a:t>T2  ·  T3  ·  T4  ·  T5  ·  T6  ·  T1   puis on recommence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5F1E8"/>
                </a:solidFill>
                <a:latin typeface="Segoe UI"/>
              </a:rPr>
              <a:t>Chaque changement d'axe passe par une phase tout-rouge de 1 s : le temps de dégagement est explicite dans le cycle.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0" y="4846320"/>
            <a:ext cx="4005072" cy="91440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497433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AEB6BD"/>
                </a:solidFill>
                <a:latin typeface="Segoe UI"/>
              </a:rPr>
              <a:t>DURÉE TOTALE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519379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E8A33D"/>
                </a:solidFill>
                <a:latin typeface="Georgia"/>
              </a:rPr>
              <a:t>16 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524865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AEB6BD"/>
                </a:solidFill>
                <a:latin typeface="Segoe UI"/>
              </a:rPr>
              <a:t>dont 2 s de tout-rouge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221991"/>
            <a:ext cx="265176" cy="1636776"/>
          </a:xfrm>
          <a:prstGeom prst="roundRect">
            <a:avLst>
              <a:gd name="adj" fmla="val 50000"/>
            </a:avLst>
          </a:prstGeom>
          <a:solidFill>
            <a:srgbClr val="E7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499359"/>
            <a:ext cx="137160" cy="13716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97180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444240"/>
            <a:ext cx="137160" cy="137160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05 · 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18 tirs pour revenir exactement à M₀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12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2B2415"/>
          </a:solidFill>
          <a:ln w="762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87451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92807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onsolas"/>
              </a:rPr>
              <a:t>T1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178308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81F"/>
          </a:solidFill>
          <a:ln w="11430"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187451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1892807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7FC8A9"/>
                </a:solidFill>
                <a:latin typeface="Consolas"/>
              </a:rPr>
              <a:t>T7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376" y="178308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42A"/>
          </a:solidFill>
          <a:ln w="11430">
            <a:solidFill>
              <a:srgbClr val="315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187451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1892807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8FBBCE"/>
                </a:solidFill>
                <a:latin typeface="Consolas"/>
              </a:rPr>
              <a:t>T8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07024" y="178308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F7F4ED"/>
          </a:solidFill>
          <a:ln w="11430">
            <a:solidFill>
              <a:srgbClr val="64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187451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64707A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892807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64707A"/>
                </a:solidFill>
                <a:latin typeface="Consolas"/>
              </a:rPr>
              <a:t>T15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1" y="178308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81F"/>
          </a:solidFill>
          <a:ln w="11430"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1" y="187451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1" y="1892807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7FC8A9"/>
                </a:solidFill>
                <a:latin typeface="Consolas"/>
              </a:rPr>
              <a:t>T9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19" y="178308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42A"/>
          </a:solidFill>
          <a:ln w="11430">
            <a:solidFill>
              <a:srgbClr val="315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187451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1892807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8FBBCE"/>
                </a:solidFill>
                <a:latin typeface="Consolas"/>
              </a:rPr>
              <a:t>T10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74320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F7F4ED"/>
          </a:solidFill>
          <a:ln w="11430">
            <a:solidFill>
              <a:srgbClr val="64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2834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64707A"/>
                </a:solidFill>
                <a:latin typeface="Segoe U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285292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64707A"/>
                </a:solidFill>
                <a:latin typeface="Consolas"/>
              </a:rPr>
              <a:t>T16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95728" y="274320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2B2415"/>
          </a:solidFill>
          <a:ln w="762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87168" y="2834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7208" y="285292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onsolas"/>
              </a:rPr>
              <a:t>T2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51376" y="274320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2B2415"/>
          </a:solidFill>
          <a:ln w="762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2816" y="2834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2856" y="285292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onsolas"/>
              </a:rPr>
              <a:t>T3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07024" y="274320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2B2415"/>
          </a:solidFill>
          <a:ln w="762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98464" y="2834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285292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onsolas"/>
              </a:rPr>
              <a:t>T4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62671" y="274320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81F"/>
          </a:solidFill>
          <a:ln w="11430"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54111" y="2834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1" y="285292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7FC8A9"/>
                </a:solidFill>
                <a:latin typeface="Consolas"/>
              </a:rPr>
              <a:t>T11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19" y="274320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42A"/>
          </a:solidFill>
          <a:ln w="11430">
            <a:solidFill>
              <a:srgbClr val="315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2834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799" y="285292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8FBBCE"/>
                </a:solidFill>
                <a:latin typeface="Consolas"/>
              </a:rPr>
              <a:t>T12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370332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F7F4ED"/>
          </a:solidFill>
          <a:ln w="11430">
            <a:solidFill>
              <a:srgbClr val="64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19" y="37947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64707A"/>
                </a:solidFill>
                <a:latin typeface="Segoe UI"/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381304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64707A"/>
                </a:solidFill>
                <a:latin typeface="Consolas"/>
              </a:rPr>
              <a:t>T17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95728" y="370332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81F"/>
          </a:solidFill>
          <a:ln w="11430"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87168" y="37947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07208" y="381304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7FC8A9"/>
                </a:solidFill>
                <a:latin typeface="Consolas"/>
              </a:rPr>
              <a:t>T13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51376" y="370332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16242A"/>
          </a:solidFill>
          <a:ln w="11430">
            <a:solidFill>
              <a:srgbClr val="315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2816" y="37947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62856" y="381304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8FBBCE"/>
                </a:solidFill>
                <a:latin typeface="Consolas"/>
              </a:rPr>
              <a:t>T14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07024" y="370332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F7F4ED"/>
          </a:solidFill>
          <a:ln w="11430">
            <a:solidFill>
              <a:srgbClr val="64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8464" y="37947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64707A"/>
                </a:solidFill>
                <a:latin typeface="Segoe UI"/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18504" y="381304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64707A"/>
                </a:solidFill>
                <a:latin typeface="Consolas"/>
              </a:rPr>
              <a:t>T18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62671" y="370332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2B2415"/>
          </a:solidFill>
          <a:ln w="762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54111" y="37947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4151" y="381304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onsolas"/>
              </a:rPr>
              <a:t>T5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18319" y="3703320"/>
            <a:ext cx="1627632" cy="548640"/>
          </a:xfrm>
          <a:prstGeom prst="roundRect">
            <a:avLst>
              <a:gd name="adj" fmla="val 6000"/>
            </a:avLst>
          </a:prstGeom>
          <a:solidFill>
            <a:srgbClr val="2B2415"/>
          </a:solidFill>
          <a:ln w="762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59" y="37947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AEB6BD"/>
                </a:solidFill>
                <a:latin typeface="Segoe UI"/>
              </a:rPr>
              <a:t>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799" y="381304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onsolas"/>
              </a:rPr>
              <a:t>T6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864608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B2415"/>
          </a:solidFill>
          <a:ln w="1016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7" y="482803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Feux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874519" y="4864608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16281F"/>
          </a:solidFill>
          <a:ln w="10160"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82803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Entrées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08960" y="4864608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16242A"/>
          </a:solidFill>
          <a:ln w="10160">
            <a:solidFill>
              <a:srgbClr val="315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10128" y="482803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Sorties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43400" y="4864608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7F4ED"/>
          </a:solidFill>
          <a:ln w="10160">
            <a:solidFill>
              <a:srgbClr val="64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44568" y="482803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Arrivées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5212080"/>
            <a:ext cx="4937760" cy="822960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" y="532180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E8A33D"/>
                </a:solidFill>
                <a:latin typeface="Segoe UI"/>
              </a:rPr>
              <a:t>T-INVARIANT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55040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F1E8"/>
                </a:solidFill>
                <a:latin typeface="Consolas"/>
              </a:rPr>
              <a:t>x = (1, 1, …, 1)  ·  C · x = 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06440" y="5212080"/>
            <a:ext cx="57424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35040" y="532180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2F7D5B"/>
                </a:solidFill>
                <a:latin typeface="Segoe UI"/>
              </a:rPr>
              <a:t>RETOUR VÉRIFIÉ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555040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M₀ --σ--&gt; M₀  (marquage identique, jeton par jeton)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1572768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La séquence est rejouée à l'import par le moteur : si le modèle change, la démonstration se désynchronise immédiatement.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221991"/>
            <a:ext cx="265176" cy="1636776"/>
          </a:xfrm>
          <a:prstGeom prst="roundRect">
            <a:avLst>
              <a:gd name="adj" fmla="val 50000"/>
            </a:avLst>
          </a:prstGeom>
          <a:solidFill>
            <a:srgbClr val="E7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499359"/>
            <a:ext cx="137160" cy="13716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97180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444240"/>
            <a:ext cx="137160" cy="137160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06 · VÉRIFICATION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L'analyse répond avant la simulation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13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Tout est recalculé à l'import depuis Pre, Post et M₀. Aucun résultat n'est écrit en dur dans l'interface.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1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4707A"/>
                </a:solidFill>
                <a:latin typeface="Segoe UI"/>
              </a:rPr>
              <a:t>PROPRIÉTÉ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84831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4707A"/>
                </a:solidFill>
                <a:latin typeface="Segoe UI"/>
              </a:rPr>
              <a:t>STATUT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84831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4707A"/>
                </a:solidFill>
                <a:latin typeface="Segoe UI"/>
              </a:rPr>
              <a:t>RÉSULTAT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2359152"/>
            <a:ext cx="6537960" cy="0"/>
          </a:xfrm>
          <a:prstGeom prst="line">
            <a:avLst/>
          </a:prstGeom>
          <a:ln w="1270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52374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1820"/>
                </a:solidFill>
                <a:latin typeface="Segoe UI"/>
              </a:rPr>
              <a:t>Accessibilité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2496312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PROUVÉ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23744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5 états de feux atteints depuis M₀, par BFS.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2907792"/>
            <a:ext cx="653796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01752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1820"/>
                </a:solidFill>
                <a:latin typeface="Segoe UI"/>
              </a:rPr>
              <a:t>Sûreté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2990088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PROUVÉ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017520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0 état accessible avec deux verts incompatibles.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3401568"/>
            <a:ext cx="653796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351129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1820"/>
                </a:solidFill>
                <a:latin typeface="Segoe UI"/>
              </a:rPr>
              <a:t>Bornitude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483864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PROUVÉ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511296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k = 8 : aucune place ne dépasse 8 jetons.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3895344"/>
            <a:ext cx="653796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400507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1820"/>
                </a:solidFill>
                <a:latin typeface="Segoe UI"/>
              </a:rPr>
              <a:t>Absence de blocage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397764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PROUVÉ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005072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Aucune transition morte dans le cycle fermé.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389120"/>
            <a:ext cx="653796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449884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1820"/>
                </a:solidFill>
                <a:latin typeface="Segoe UI"/>
              </a:rPr>
              <a:t>P-invariants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71416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PROUVÉ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498848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10 relations C · y = 0, contrôlées sur M₀.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4882896"/>
            <a:ext cx="653796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499262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1820"/>
                </a:solidFill>
                <a:latin typeface="Segoe UI"/>
              </a:rPr>
              <a:t>T-invariant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4965192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PROUVÉ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992624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18 tirs ramènent le marquage exactement à M₀.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376672"/>
            <a:ext cx="653796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54864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1820"/>
                </a:solidFill>
                <a:latin typeface="Segoe UI"/>
              </a:rPr>
              <a:t>Vivacité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0" y="5458968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750" b="1" i="0">
                <a:solidFill>
                  <a:srgbClr val="101820"/>
                </a:solidFill>
                <a:latin typeface="Segoe UI"/>
              </a:rPr>
              <a:t>PARTIEL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486400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L3 pour les feux, L1 pour le flux véhicules.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5870448"/>
            <a:ext cx="653796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452360" y="2084831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53528" y="2231136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315C72"/>
                </a:solidFill>
                <a:latin typeface="Georgia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2834640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64707A"/>
                </a:solidFill>
                <a:latin typeface="Segoe UI"/>
              </a:rPr>
              <a:t>ÉTATS DE FEUX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9760" y="2084831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0928" y="2231136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2F7D5B"/>
                </a:solidFill>
                <a:latin typeface="Georgia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0928" y="2834640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64707A"/>
                </a:solidFill>
                <a:latin typeface="Segoe UI"/>
              </a:rPr>
              <a:t>COLLISION POSSIBLE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60" y="3401568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3528" y="3547872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B8791F"/>
                </a:solidFill>
                <a:latin typeface="Georgia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151376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64707A"/>
                </a:solidFill>
                <a:latin typeface="Segoe UI"/>
              </a:rPr>
              <a:t>BORNE 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3401568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10928" y="3547872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C44536"/>
                </a:solidFill>
                <a:latin typeface="Georgia"/>
              </a:rPr>
              <a:t>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10928" y="4151376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64707A"/>
                </a:solidFill>
                <a:latin typeface="Segoe UI"/>
              </a:rPr>
              <a:t>TIRS / CYCLE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2360" y="4754880"/>
            <a:ext cx="3977639" cy="1170432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62672" y="488289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E8A33D"/>
                </a:solidFill>
                <a:latin typeface="Segoe UI"/>
              </a:rPr>
              <a:t>LA NUANCE À ASSUMER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62672" y="5120640"/>
            <a:ext cx="3602736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F5F1E8"/>
                </a:solidFill>
                <a:latin typeface="Segoe UI"/>
              </a:rPr>
              <a:t>La vivacité des feux est prouvée (L3). Celle du flux dépend du contrôleur temporel : le modèle garantit la sûreté, pas le débit.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943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07A"/>
                </a:solidFill>
                <a:latin typeface="Segoe UI"/>
              </a:rPr>
              <a:t>Le même code d'analyse tourne à l'ouverture de l'application.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07 · LOGICIEL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Une seule source, six couches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Le modèle est un module TypeScript pur. Le reste de l'application le lit, ne le duplique jamais.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63550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82296" cy="512064"/>
          </a:xfrm>
          <a:prstGeom prst="roundRect">
            <a:avLst>
              <a:gd name="adj" fmla="val 0"/>
            </a:avLst>
          </a:prstGeom>
          <a:solidFill>
            <a:srgbClr val="64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969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1820"/>
                </a:solidFill>
                <a:latin typeface="Segoe UI"/>
              </a:rP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157984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Consolas"/>
              </a:rPr>
              <a:t>app/page.tsx · components/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5798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Segoe UI"/>
              </a:rPr>
              <a:t>onglets, canvas, contrôles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87752"/>
            <a:ext cx="63550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87752"/>
            <a:ext cx="82296" cy="512064"/>
          </a:xfrm>
          <a:prstGeom prst="roundRect">
            <a:avLst>
              <a:gd name="adj" fmla="val 0"/>
            </a:avLst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7157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1820"/>
                </a:solidFill>
                <a:latin typeface="Segoe UI"/>
              </a:rPr>
              <a:t>État 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2734056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Consolas"/>
              </a:rPr>
              <a:t>hooks/useSimulation.ts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3405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Segoe UI"/>
              </a:rPr>
              <a:t>tick 10 Hz, pause, vitesse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63824"/>
            <a:ext cx="63550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82296" cy="512064"/>
          </a:xfrm>
          <a:prstGeom prst="roundRect">
            <a:avLst>
              <a:gd name="adj" fmla="val 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29184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1820"/>
                </a:solidFill>
                <a:latin typeface="Segoe UI"/>
              </a:rPr>
              <a:t>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31012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Consolas"/>
              </a:rPr>
              <a:t>lib/petri/simulation.ts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31012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Segoe UI"/>
              </a:rPr>
              <a:t>phases, files, attentes FIFO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39896"/>
            <a:ext cx="63550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739896"/>
            <a:ext cx="82296" cy="512064"/>
          </a:xfrm>
          <a:prstGeom prst="roundRect">
            <a:avLst>
              <a:gd name="adj" fmla="val 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867911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1820"/>
                </a:solidFill>
                <a:latin typeface="Segoe UI"/>
              </a:rPr>
              <a:t>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9968" y="3886200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Consolas"/>
              </a:rPr>
              <a:t>lib/petri/analysis.ts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88620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Segoe UI"/>
              </a:rPr>
              <a:t>BFS, invariants, bornes, cycle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15968"/>
            <a:ext cx="63550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315968"/>
            <a:ext cx="82296" cy="512064"/>
          </a:xfrm>
          <a:prstGeom prst="roundRect">
            <a:avLst>
              <a:gd name="adj" fmla="val 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443983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1820"/>
                </a:solidFill>
                <a:latin typeface="Segoe UI"/>
              </a:rPr>
              <a:t>Moteur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446227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Consolas"/>
              </a:rPr>
              <a:t>lib/petri/engine.ts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462272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4707A"/>
                </a:solidFill>
                <a:latin typeface="Segoe UI"/>
              </a:rPr>
              <a:t>Pre / Post, franchissement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92040"/>
            <a:ext cx="6355080" cy="512064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892040"/>
            <a:ext cx="82296" cy="512064"/>
          </a:xfrm>
          <a:prstGeom prst="roundRect">
            <a:avLst>
              <a:gd name="adj" fmla="val 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5020055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F1E8"/>
                </a:solidFill>
                <a:latin typeface="Segoe UI"/>
              </a:rPr>
              <a:t>Modèle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9968" y="5038344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AEB6BD"/>
                </a:solidFill>
                <a:latin typeface="Consolas"/>
              </a:rPr>
              <a:t>lib/petri/model.ts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03834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AEB6BD"/>
                </a:solidFill>
                <a:latin typeface="Segoe UI"/>
              </a:rPr>
              <a:t>26 places, 18 transitions, M₀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78040" y="2286000"/>
            <a:ext cx="0" cy="2743200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Up Arrow 38"/>
          <p:cNvSpPr/>
          <p:nvPr/>
        </p:nvSpPr>
        <p:spPr>
          <a:xfrm>
            <a:off x="7095744" y="2121408"/>
            <a:ext cx="164592" cy="201168"/>
          </a:xfrm>
          <a:prstGeom prst="up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513892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8A5A11"/>
                </a:solidFill>
                <a:latin typeface="Segoe UI"/>
              </a:rPr>
              <a:t>dépend 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178308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1938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E8A33D"/>
                </a:solidFill>
                <a:latin typeface="Segoe UI"/>
              </a:rPr>
              <a:t>RÈGLE N°1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212848"/>
            <a:ext cx="3108960" cy="1508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F5F1E8"/>
                </a:solidFill>
                <a:latin typeface="Segoe UI"/>
              </a:rPr>
              <a:t>model.ts est la seule source de vérité. Changer une place met à jour le moteur, l'analyse et l'écran en même temps.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001000" y="4041648"/>
            <a:ext cx="352044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01000" y="41148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Moteur pur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35254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4707A"/>
                </a:solidFill>
                <a:latin typeface="Segoe UI"/>
              </a:rPr>
              <a:t>engine.ts ne connaît ni React, ni le temps.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01000" y="4645152"/>
            <a:ext cx="352044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001000" y="471830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Analyse pure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95604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4707A"/>
                </a:solidFill>
                <a:latin typeface="Segoe UI"/>
              </a:rPr>
              <a:t>analysis.ts lit le modèle, jamais l'UI.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001000" y="5248656"/>
            <a:ext cx="3520440" cy="0"/>
          </a:xfrm>
          <a:prstGeom prst="line">
            <a:avLst/>
          </a:prstGeom>
          <a:ln w="762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01000" y="532180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UI dérivée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55955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4707A"/>
                </a:solidFill>
                <a:latin typeface="Segoe UI"/>
              </a:rPr>
              <a:t>aucun composant ne recalcule une propriété.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53212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65099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01820"/>
                </a:solidFill>
                <a:latin typeface="Consolas"/>
              </a:rPr>
              <a:t>npm run typecheck : OK     npm run build : OK     zéro dépendance ajoutée pour le modèle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221991"/>
            <a:ext cx="265176" cy="1636776"/>
          </a:xfrm>
          <a:prstGeom prst="roundRect">
            <a:avLst>
              <a:gd name="adj" fmla="val 50000"/>
            </a:avLst>
          </a:prstGeom>
          <a:solidFill>
            <a:srgbClr val="E7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499359"/>
            <a:ext cx="137160" cy="13716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97180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444240"/>
            <a:ext cx="137160" cy="137160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07 · LOGICIEL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Ce qui se passe à chaque tick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15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La simulation avance par pas de 100 ms. À chaque pas, cinq opérations sont exécutées dans cet ordre.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048255"/>
            <a:ext cx="402336" cy="402336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671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66544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Arrivées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40864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T15–T18 tirent selon un intervalle aléatoire de 0,7 à 2,1 s, si la capacité de la file est libre.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2542032"/>
            <a:ext cx="0" cy="164592"/>
          </a:xfrm>
          <a:prstGeom prst="line">
            <a:avLst/>
          </a:prstGeom>
          <a:ln w="1524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" y="2816351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93522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101820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3464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Feux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08960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Le cycle temporel rend T1–T6 tirables : 5 s de vert, 2 s d'orange, 1 s de tout-rouge.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3310128"/>
            <a:ext cx="0" cy="164592"/>
          </a:xfrm>
          <a:prstGeom prst="line">
            <a:avLst/>
          </a:prstGeom>
          <a:ln w="1524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1520" y="3584447"/>
            <a:ext cx="402336" cy="402336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70332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602736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Entrées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877056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T7/T9/T11/T13 si feu vert, véhicule en file et place en circulation — au plus 2 véhicules par phase.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" y="4078224"/>
            <a:ext cx="0" cy="164592"/>
          </a:xfrm>
          <a:prstGeom prst="line">
            <a:avLst/>
          </a:prstGeom>
          <a:ln w="1524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31520" y="4352544"/>
            <a:ext cx="402336" cy="402336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47141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370831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Traversées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45152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Le véhicule reste 0,8 s en circulation (T8/T10/T12/T14), puis rend sa capacité à la file.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2688" y="4846320"/>
            <a:ext cx="0" cy="164592"/>
          </a:xfrm>
          <a:prstGeom prst="line">
            <a:avLst/>
          </a:prstGeom>
          <a:ln w="15240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1520" y="5120640"/>
            <a:ext cx="402336" cy="402336"/>
          </a:xfrm>
          <a:prstGeom prst="ellipse">
            <a:avLst/>
          </a:prstGeom>
          <a:solidFill>
            <a:srgbClr val="64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23951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138927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1820"/>
                </a:solidFill>
                <a:latin typeface="Segoe UI"/>
              </a:rPr>
              <a:t>Attentes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413248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07A"/>
                </a:solidFill>
                <a:latin typeface="Segoe UI"/>
              </a:rPr>
              <a:t>Chaque véhicule est horodaté à l'arrivée ; l'attente moyenne est la moyenne réelle des temps passés en file.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1783080"/>
            <a:ext cx="3813048" cy="2331720"/>
          </a:xfrm>
          <a:prstGeom prst="roundRect">
            <a:avLst>
              <a:gd name="adj" fmla="val 6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192024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E8A33D"/>
                </a:solidFill>
                <a:latin typeface="Segoe UI"/>
              </a:rPr>
              <a:t>CONTRÔLEUR TEMPOREL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24942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Consolas"/>
              </a:rPr>
              <a:t>TICK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24942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F5F1E8"/>
                </a:solidFill>
                <a:latin typeface="Consolas"/>
              </a:rPr>
              <a:t>100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Consolas"/>
              </a:rPr>
              <a:t>PASS_INTERVAL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256032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F5F1E8"/>
                </a:solidFill>
                <a:latin typeface="Consolas"/>
              </a:rPr>
              <a:t>0,9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2871215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Consolas"/>
              </a:rPr>
              <a:t>CROSS_TIME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2871215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F5F1E8"/>
                </a:solidFill>
                <a:latin typeface="Consolas"/>
              </a:rPr>
              <a:t>0,8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3182111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Consolas"/>
              </a:rPr>
              <a:t>MAX / PHASE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3182111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F5F1E8"/>
                </a:solidFill>
                <a:latin typeface="Consolas"/>
              </a:rPr>
              <a:t>2 véh.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493007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Consolas"/>
              </a:rPr>
              <a:t>ARRIVAL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3493007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F5F1E8"/>
                </a:solidFill>
                <a:latin typeface="Consolas"/>
              </a:rPr>
              <a:t>0,7 – 2,1 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26679" y="4315968"/>
            <a:ext cx="3813048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726679" y="4315968"/>
            <a:ext cx="73152" cy="1627632"/>
          </a:xfrm>
          <a:prstGeom prst="roundRect">
            <a:avLst>
              <a:gd name="adj" fmla="val 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446227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2F7D5B"/>
                </a:solidFill>
                <a:latin typeface="Segoe UI"/>
              </a:rPr>
              <a:t>ATTENTE MESURÉE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718304"/>
            <a:ext cx="331012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01820"/>
                </a:solidFill>
                <a:latin typeface="Segoe UI"/>
              </a:rPr>
              <a:t>Pas de formule : une file FIFO d'horodatages. La vitesse ×0,5, ×1 ou ×2 change le rythme d'affichage, pas les propriétés du modèle.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943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07A"/>
                </a:solidFill>
                <a:latin typeface="Segoe UI"/>
              </a:rPr>
              <a:t>Les arrivées sont volontairement plus rapides que le service : la saturation devient visible.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A5A11"/>
                </a:solidFill>
                <a:latin typeface="Segoe UI"/>
              </a:rPr>
              <a:t>07 · 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101820"/>
                </a:solidFill>
                <a:latin typeface="Georgia"/>
              </a:rPr>
              <a:t>Ce qui est acquis, ce qui reste ouvert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D9D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64707A"/>
                </a:solidFill>
                <a:latin typeface="Segoe U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07A"/>
                </a:solidFill>
                <a:latin typeface="Segoe UI"/>
              </a:rPr>
              <a:t>Le projet est complet sur le plan formel. Les limites portent sur le réalisme du trafic et l'outillage, pas sur la sûreté.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29968"/>
            <a:ext cx="3502152" cy="566928"/>
          </a:xfrm>
          <a:prstGeom prst="roundRect">
            <a:avLst>
              <a:gd name="adj" fmla="val 6000"/>
            </a:avLst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ACQUIS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225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Ce qui fonctionne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96896"/>
            <a:ext cx="350215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4108" y="2793491"/>
            <a:ext cx="100584" cy="100584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76148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Modèle unifié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0837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26 places, 18 transitions, une seule source.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" y="3525012"/>
            <a:ext cx="100584" cy="100584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9300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Sûreté prouvée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3989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Deux verts incompatibles sont impossibles.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" y="4256532"/>
            <a:ext cx="100584" cy="100584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245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Analyse recalculée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7141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10 invariants, 5 états, cycle de 18 tirs.</a:t>
            </a:r>
          </a:p>
        </p:txBody>
      </p:sp>
      <p:sp>
        <p:nvSpPr>
          <p:cNvPr id="21" name="Oval 20"/>
          <p:cNvSpPr/>
          <p:nvPr/>
        </p:nvSpPr>
        <p:spPr>
          <a:xfrm>
            <a:off x="864108" y="4988052"/>
            <a:ext cx="100584" cy="100584"/>
          </a:xfrm>
          <a:prstGeom prst="ellipse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5604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Simulation fluide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0293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10 Hz, attentes réelles, vitesse réglable.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029968"/>
            <a:ext cx="3502152" cy="566928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21214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01820"/>
                </a:solidFill>
                <a:latin typeface="Segoe UI"/>
              </a:rPr>
              <a:t>LIMITES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23225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01820"/>
                </a:solidFill>
                <a:latin typeface="Segoe UI"/>
              </a:rPr>
              <a:t>Ce qui reste partiel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596896"/>
            <a:ext cx="350215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67428" y="2793491"/>
            <a:ext cx="100584" cy="1005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76148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Vivacité du flux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00837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L1 seulement : le débit dépend du temps.</a:t>
            </a:r>
          </a:p>
        </p:txBody>
      </p:sp>
      <p:sp>
        <p:nvSpPr>
          <p:cNvPr id="31" name="Oval 30"/>
          <p:cNvSpPr/>
          <p:nvPr/>
        </p:nvSpPr>
        <p:spPr>
          <a:xfrm>
            <a:off x="4567428" y="3525012"/>
            <a:ext cx="100584" cy="1005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49300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Constantes fixes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73989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Débits et capacités non calibrés sur le terrain.</a:t>
            </a:r>
          </a:p>
        </p:txBody>
      </p:sp>
      <p:sp>
        <p:nvSpPr>
          <p:cNvPr id="34" name="Oval 33"/>
          <p:cNvSpPr/>
          <p:nvPr/>
        </p:nvSpPr>
        <p:spPr>
          <a:xfrm>
            <a:off x="4567428" y="4256532"/>
            <a:ext cx="100584" cy="1005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2245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Trafic uniforme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47141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Pas de profils horaires ni de priorités.</a:t>
            </a:r>
          </a:p>
        </p:txBody>
      </p:sp>
      <p:sp>
        <p:nvSpPr>
          <p:cNvPr id="37" name="Oval 36"/>
          <p:cNvSpPr/>
          <p:nvPr/>
        </p:nvSpPr>
        <p:spPr>
          <a:xfrm>
            <a:off x="4567428" y="4988052"/>
            <a:ext cx="100584" cy="1005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495604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Pas de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520293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Ni runner, ni ESLint dans le projet.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2029968"/>
            <a:ext cx="3502152" cy="566928"/>
          </a:xfrm>
          <a:prstGeom prst="roundRect">
            <a:avLst>
              <a:gd name="adj" fmla="val 6000"/>
            </a:avLst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1214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PERSPECTIVES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23225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Ce qui peut prolonger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2596896"/>
            <a:ext cx="350215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270748" y="2793491"/>
            <a:ext cx="100584" cy="100584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276148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Transitions temporisées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00837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Mettre les durées dans le RdP, pas à côté.</a:t>
            </a:r>
          </a:p>
        </p:txBody>
      </p:sp>
      <p:sp>
        <p:nvSpPr>
          <p:cNvPr id="47" name="Oval 46"/>
          <p:cNvSpPr/>
          <p:nvPr/>
        </p:nvSpPr>
        <p:spPr>
          <a:xfrm>
            <a:off x="8270748" y="3525012"/>
            <a:ext cx="100584" cy="100584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349300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Profils de trafic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373989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Heures de pointe, files prioritaires.</a:t>
            </a:r>
          </a:p>
        </p:txBody>
      </p:sp>
      <p:sp>
        <p:nvSpPr>
          <p:cNvPr id="50" name="Oval 49"/>
          <p:cNvSpPr/>
          <p:nvPr/>
        </p:nvSpPr>
        <p:spPr>
          <a:xfrm>
            <a:off x="8270748" y="4256532"/>
            <a:ext cx="100584" cy="100584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42245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Export PNML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47141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Échange avec les outils d'analyse existants.</a:t>
            </a:r>
          </a:p>
        </p:txBody>
      </p:sp>
      <p:sp>
        <p:nvSpPr>
          <p:cNvPr id="53" name="Oval 52"/>
          <p:cNvSpPr/>
          <p:nvPr/>
        </p:nvSpPr>
        <p:spPr>
          <a:xfrm>
            <a:off x="8270748" y="4988052"/>
            <a:ext cx="100584" cy="100584"/>
          </a:xfrm>
          <a:prstGeom prst="ellipse">
            <a:avLst/>
          </a:prstGeom>
          <a:solidFill>
            <a:srgbClr val="31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495604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01820"/>
                </a:solidFill>
                <a:latin typeface="Segoe UI"/>
              </a:rPr>
              <a:t>Tests de modèle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20293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07A"/>
                </a:solidFill>
                <a:latin typeface="Segoe UI"/>
              </a:rPr>
              <a:t>Verrouiller les invariants en non-régression.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5833872"/>
            <a:ext cx="10908792" cy="310896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8521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101820"/>
                </a:solidFill>
                <a:latin typeface="Segoe UI"/>
              </a:rPr>
              <a:t>La priorité suivante n'est pas d'ajouter des écrans, mais de déplacer les durées dans le modèle et de verrouiller les preuves par des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8A33D"/>
                </a:solidFill>
                <a:latin typeface="Segoe UI"/>
              </a:rPr>
              <a:t>08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F5F1E8"/>
                </a:solidFill>
                <a:latin typeface="Georgia"/>
              </a:rPr>
              <a:t>Un carrefour qui tient la route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336792"/>
            <a:ext cx="10908792" cy="0"/>
          </a:xfrm>
          <a:prstGeom prst="line">
            <a:avLst/>
          </a:prstGeom>
          <a:ln w="9525">
            <a:solidFill>
              <a:srgbClr val="2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282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Réseau de Petri · Carrefour à 4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2823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Segoe U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AEB6BD"/>
                </a:solidFill>
                <a:latin typeface="Segoe UI"/>
              </a:rPr>
              <a:t>Trois idées à retenir, et une seule source de vérité pour les porter.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8A33D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9514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5F1E8"/>
                </a:solidFill>
                <a:latin typeface="Segoe UI"/>
              </a:rPr>
              <a:t>La sûreté est structurelle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06039"/>
            <a:ext cx="5806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Deux verts incompatibles ne sont pas improbables : ils sont impossibles, par 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558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8A33D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5F1E8"/>
                </a:solidFill>
                <a:latin typeface="Segoe UI"/>
              </a:rPr>
              <a:t>La preuve est calculée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30168"/>
            <a:ext cx="5806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Invariants, bornes, états accessibles et cycle sont vérifiés à l'import, pas recopiés.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99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8A33D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5F1E8"/>
                </a:solidFill>
                <a:latin typeface="Segoe UI"/>
              </a:rPr>
              <a:t>La simulation est lisible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54296"/>
            <a:ext cx="5806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EB6BD"/>
                </a:solidFill>
                <a:latin typeface="Segoe UI"/>
              </a:rPr>
              <a:t>Le même modèle alimente l'analyse et l'animation, sans chemin parallèle.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81328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18242E"/>
          </a:solidFill>
          <a:ln w="9525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6459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E8A33D"/>
                </a:solidFill>
                <a:latin typeface="Segoe UI"/>
              </a:rPr>
              <a:t>LE MODÈLE EN CHIFFRES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975104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E8A33D"/>
                </a:solidFill>
                <a:latin typeface="Georgia"/>
              </a:rPr>
              <a:t>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3969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EB6BD"/>
                </a:solidFill>
                <a:latin typeface="Segoe UI"/>
              </a:rPr>
              <a:t>places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724912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E8A33D"/>
                </a:solidFill>
                <a:latin typeface="Georgia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88950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EB6BD"/>
                </a:solidFill>
                <a:latin typeface="Segoe UI"/>
              </a:rPr>
              <a:t>transitions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47472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E8A33D"/>
                </a:solidFill>
                <a:latin typeface="Georgia"/>
              </a:rPr>
              <a:t>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63931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EB6BD"/>
                </a:solidFill>
                <a:latin typeface="Segoe UI"/>
              </a:rPr>
              <a:t>jetons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224528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E8A33D"/>
                </a:solidFill>
                <a:latin typeface="Georgia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3891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EB6BD"/>
                </a:solidFill>
                <a:latin typeface="Segoe UI"/>
              </a:rPr>
              <a:t>P-invariants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95604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7FC8A9"/>
                </a:solidFill>
                <a:latin typeface="Consolas"/>
              </a:rPr>
              <a:t>Cycle fermé : 18 tirs, M₀ → M₀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5440680"/>
            <a:ext cx="6675120" cy="0"/>
          </a:xfrm>
          <a:prstGeom prst="line">
            <a:avLst/>
          </a:prstGeom>
          <a:ln w="9525">
            <a:solidFill>
              <a:srgbClr val="2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522976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8A33D"/>
                </a:solidFill>
                <a:latin typeface="Georgia"/>
              </a:rPr>
              <a:t>Merci.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5961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EB6BD"/>
                </a:solidFill>
                <a:latin typeface="Segoe UI"/>
              </a:rPr>
              <a:t>Questions &amp; démonstration en direct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EB6BD"/>
                </a:solidFill>
                <a:latin typeface="Consolas"/>
              </a:rPr>
              <a:t>projet_feu_tricolor_M1 · Next.js 16 · React 19 · TypeScript 5.9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 carrefour sous contrôle — Réseau de Petri &amp; Next.js</dc:title>
  <dc:subject>Simulation d'un carrefour à quatre directions par réseau de Petri</dc:subject>
  <dc:creator>Projet M1</dc:creator>
  <cp:keywords>réseau de Petri, Next.js, simulation, invariants, carrefour</cp:keywords>
  <dc:description>Présentation générée depuis lib/petri/model.ts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